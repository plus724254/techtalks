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R1xmNd4Refa8ZEdt0C1Zl7pfTQ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陳以雍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10-01T07:32:17.434">
    <p:pos x="3888" y="1699"/>
    <p:text>有點像MP3壓縮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AzXV2Yk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1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223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 txBox="1"/>
          <p:nvPr/>
        </p:nvSpPr>
        <p:spPr>
          <a:xfrm>
            <a:off x="731520" y="1554480"/>
            <a:ext cx="5486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Microsoft JhengHei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Local LLM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731520" y="260604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33A"/>
              </a:buClr>
              <a:buSzPts val="3800"/>
              <a:buFont typeface="Microsoft JhengHei"/>
              <a:buNone/>
            </a:pPr>
            <a:r>
              <a:rPr b="1" i="0" lang="en-US" sz="3800" u="none" cap="none" strike="noStrike">
                <a:solidFill>
                  <a:srgbClr val="F2A33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本地模型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126480" y="1234440"/>
            <a:ext cx="2560320" cy="2560320"/>
          </a:xfrm>
          <a:prstGeom prst="ellipse">
            <a:avLst/>
          </a:prstGeom>
          <a:solidFill>
            <a:srgbClr val="3A4358"/>
          </a:solidFill>
          <a:ln cap="flat" cmpd="sng" w="12700">
            <a:solidFill>
              <a:srgbClr val="3A4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6537960" y="1645920"/>
            <a:ext cx="1737360" cy="1737360"/>
          </a:xfrm>
          <a:prstGeom prst="ellipse">
            <a:avLst/>
          </a:prstGeom>
          <a:solidFill>
            <a:srgbClr val="F2A33A"/>
          </a:solidFill>
          <a:ln cap="flat" cmpd="sng" w="12700">
            <a:solidFill>
              <a:srgbClr val="F2A3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" name="Google Shape;2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03720" y="2011680"/>
            <a:ext cx="1005840" cy="1005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3600"/>
              <a:buFont typeface="Microsoft JhengHei"/>
              <a:buNone/>
            </a:pPr>
            <a:r>
              <a:rPr b="1" i="0" lang="en-US" sz="36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本地模型用途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548640" y="1554480"/>
            <a:ext cx="2560320" cy="2651760"/>
          </a:xfrm>
          <a:prstGeom prst="roundRect">
            <a:avLst>
              <a:gd fmla="val 4286" name="adj"/>
            </a:avLst>
          </a:prstGeom>
          <a:solidFill>
            <a:srgbClr val="F1F3F7"/>
          </a:solidFill>
          <a:ln cap="flat" cmpd="sng" w="12700">
            <a:solidFill>
              <a:srgbClr val="F1F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914400" y="2011680"/>
            <a:ext cx="1005840" cy="1005840"/>
          </a:xfrm>
          <a:prstGeom prst="ellipse">
            <a:avLst/>
          </a:prstGeom>
          <a:solidFill>
            <a:srgbClr val="1C2230"/>
          </a:solidFill>
          <a:ln cap="flat" cmpd="sng" w="12700">
            <a:solidFill>
              <a:srgbClr val="1C2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5918" y="2273198"/>
            <a:ext cx="482803" cy="482803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2"/>
          <p:cNvSpPr txBox="1"/>
          <p:nvPr/>
        </p:nvSpPr>
        <p:spPr>
          <a:xfrm>
            <a:off x="914400" y="3246120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2000"/>
              <a:buFont typeface="Microsoft JhengHei"/>
              <a:buNone/>
            </a:pPr>
            <a:r>
              <a:rPr b="1" i="0" lang="en-US" sz="20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資料本地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3291840" y="1554480"/>
            <a:ext cx="2560320" cy="2651760"/>
          </a:xfrm>
          <a:prstGeom prst="roundRect">
            <a:avLst>
              <a:gd fmla="val 4286" name="adj"/>
            </a:avLst>
          </a:prstGeom>
          <a:solidFill>
            <a:srgbClr val="F1F3F7"/>
          </a:solidFill>
          <a:ln cap="flat" cmpd="sng" w="12700">
            <a:solidFill>
              <a:srgbClr val="F1F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3657600" y="2011680"/>
            <a:ext cx="1005840" cy="1005840"/>
          </a:xfrm>
          <a:prstGeom prst="ellipse">
            <a:avLst/>
          </a:prstGeom>
          <a:solidFill>
            <a:srgbClr val="1C2230"/>
          </a:solidFill>
          <a:ln cap="flat" cmpd="sng" w="12700">
            <a:solidFill>
              <a:srgbClr val="1C2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19118" y="2273198"/>
            <a:ext cx="482803" cy="482803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"/>
          <p:cNvSpPr txBox="1"/>
          <p:nvPr/>
        </p:nvSpPr>
        <p:spPr>
          <a:xfrm>
            <a:off x="3657600" y="3246120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2000"/>
              <a:buFont typeface="Microsoft JhengHei"/>
              <a:buNone/>
            </a:pPr>
            <a:r>
              <a:rPr b="1" i="0" lang="en-US" sz="20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節省 token 費用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035040" y="1554480"/>
            <a:ext cx="2560320" cy="2651760"/>
          </a:xfrm>
          <a:prstGeom prst="roundRect">
            <a:avLst>
              <a:gd fmla="val 4286" name="adj"/>
            </a:avLst>
          </a:prstGeom>
          <a:solidFill>
            <a:srgbClr val="F1F3F7"/>
          </a:solidFill>
          <a:ln cap="flat" cmpd="sng" w="12700">
            <a:solidFill>
              <a:srgbClr val="F1F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6400800" y="2011680"/>
            <a:ext cx="1005840" cy="1005840"/>
          </a:xfrm>
          <a:prstGeom prst="ellipse">
            <a:avLst/>
          </a:prstGeom>
          <a:solidFill>
            <a:srgbClr val="1C2230"/>
          </a:solidFill>
          <a:ln cap="flat" cmpd="sng" w="12700">
            <a:solidFill>
              <a:srgbClr val="1C2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2318" y="2273198"/>
            <a:ext cx="482803" cy="482803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 txBox="1"/>
          <p:nvPr/>
        </p:nvSpPr>
        <p:spPr>
          <a:xfrm>
            <a:off x="6400800" y="3246120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2000"/>
              <a:buFont typeface="Microsoft JhengHei"/>
              <a:buNone/>
            </a:pPr>
            <a:r>
              <a:rPr b="1" i="0" lang="en-US" sz="20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技術研究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223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Microsoft JhengHe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Demo 效果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 txBox="1"/>
          <p:nvPr/>
        </p:nvSpPr>
        <p:spPr>
          <a:xfrm>
            <a:off x="548640" y="109728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33A"/>
              </a:buClr>
              <a:buSzPts val="2000"/>
              <a:buFont typeface="Microsoft JhengHei"/>
              <a:buNone/>
            </a:pPr>
            <a:r>
              <a:rPr b="0" i="0" lang="en-US" sz="2000" u="none" cap="none" strike="noStrike">
                <a:solidFill>
                  <a:srgbClr val="F2A33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酒館 NPC 對話遊戲:即時計算回應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594360" y="1920240"/>
            <a:ext cx="2286000" cy="1737360"/>
          </a:xfrm>
          <a:prstGeom prst="roundRect">
            <a:avLst>
              <a:gd fmla="val 6316" name="adj"/>
            </a:avLst>
          </a:prstGeom>
          <a:solidFill>
            <a:srgbClr val="3A4358"/>
          </a:solidFill>
          <a:ln cap="flat" cmpd="sng" w="12700">
            <a:solidFill>
              <a:srgbClr val="3A4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1371600" y="2103120"/>
            <a:ext cx="731520" cy="731520"/>
          </a:xfrm>
          <a:prstGeom prst="ellipse">
            <a:avLst/>
          </a:prstGeom>
          <a:solidFill>
            <a:srgbClr val="1C2230"/>
          </a:solidFill>
          <a:ln cap="flat" cmpd="sng" w="12700">
            <a:solidFill>
              <a:srgbClr val="1C2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" name="Google Shape;4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1795" y="2293315"/>
            <a:ext cx="351130" cy="35113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3"/>
          <p:cNvSpPr txBox="1"/>
          <p:nvPr/>
        </p:nvSpPr>
        <p:spPr>
          <a:xfrm>
            <a:off x="594360" y="288036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Microsoft JhengHe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你說話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 txBox="1"/>
          <p:nvPr/>
        </p:nvSpPr>
        <p:spPr>
          <a:xfrm>
            <a:off x="594360" y="32461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B6C8"/>
              </a:buClr>
              <a:buSzPts val="1300"/>
              <a:buFont typeface="Microsoft JhengHei"/>
              <a:buNone/>
            </a:pPr>
            <a:r>
              <a:rPr b="0" i="0" lang="en-US" sz="1300" u="none" cap="none" strike="noStrike">
                <a:solidFill>
                  <a:srgbClr val="AEB6C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輸入一句話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" name="Google Shape;51;p3"/>
          <p:cNvCxnSpPr/>
          <p:nvPr/>
        </p:nvCxnSpPr>
        <p:spPr>
          <a:xfrm>
            <a:off x="2953512" y="2788920"/>
            <a:ext cx="402336" cy="0"/>
          </a:xfrm>
          <a:prstGeom prst="straightConnector1">
            <a:avLst/>
          </a:prstGeom>
          <a:noFill/>
          <a:ln cap="flat" cmpd="sng" w="31750">
            <a:solidFill>
              <a:srgbClr val="F2A33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" name="Google Shape;52;p3"/>
          <p:cNvSpPr/>
          <p:nvPr/>
        </p:nvSpPr>
        <p:spPr>
          <a:xfrm>
            <a:off x="3429000" y="1920240"/>
            <a:ext cx="2286000" cy="1737360"/>
          </a:xfrm>
          <a:prstGeom prst="roundRect">
            <a:avLst>
              <a:gd fmla="val 6316" name="adj"/>
            </a:avLst>
          </a:prstGeom>
          <a:solidFill>
            <a:srgbClr val="3A4358"/>
          </a:solidFill>
          <a:ln cap="flat" cmpd="sng" w="12700">
            <a:solidFill>
              <a:srgbClr val="3A4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4206240" y="2103120"/>
            <a:ext cx="731520" cy="731520"/>
          </a:xfrm>
          <a:prstGeom prst="ellipse">
            <a:avLst/>
          </a:prstGeom>
          <a:solidFill>
            <a:srgbClr val="F2A33A"/>
          </a:solidFill>
          <a:ln cap="flat" cmpd="sng" w="12700">
            <a:solidFill>
              <a:srgbClr val="F2A3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96435" y="2293315"/>
            <a:ext cx="351130" cy="35113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3"/>
          <p:cNvSpPr txBox="1"/>
          <p:nvPr/>
        </p:nvSpPr>
        <p:spPr>
          <a:xfrm>
            <a:off x="3429000" y="288036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Microsoft JhengHe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本地模型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 txBox="1"/>
          <p:nvPr/>
        </p:nvSpPr>
        <p:spPr>
          <a:xfrm>
            <a:off x="3429000" y="32461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B6C8"/>
              </a:buClr>
              <a:buSzPts val="1300"/>
              <a:buFont typeface="Microsoft JhengHei"/>
              <a:buNone/>
            </a:pPr>
            <a:r>
              <a:rPr b="0" i="0" lang="en-US" sz="1300" u="none" cap="none" strike="noStrike">
                <a:solidFill>
                  <a:srgbClr val="AEB6C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LM Studio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" name="Google Shape;57;p3"/>
          <p:cNvCxnSpPr/>
          <p:nvPr/>
        </p:nvCxnSpPr>
        <p:spPr>
          <a:xfrm>
            <a:off x="5788152" y="2788920"/>
            <a:ext cx="402336" cy="0"/>
          </a:xfrm>
          <a:prstGeom prst="straightConnector1">
            <a:avLst/>
          </a:prstGeom>
          <a:noFill/>
          <a:ln cap="flat" cmpd="sng" w="31750">
            <a:solidFill>
              <a:srgbClr val="F2A33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" name="Google Shape;58;p3"/>
          <p:cNvSpPr/>
          <p:nvPr/>
        </p:nvSpPr>
        <p:spPr>
          <a:xfrm>
            <a:off x="6263640" y="1920240"/>
            <a:ext cx="2286000" cy="1737360"/>
          </a:xfrm>
          <a:prstGeom prst="roundRect">
            <a:avLst>
              <a:gd fmla="val 6316" name="adj"/>
            </a:avLst>
          </a:prstGeom>
          <a:solidFill>
            <a:srgbClr val="3A4358"/>
          </a:solidFill>
          <a:ln cap="flat" cmpd="sng" w="12700">
            <a:solidFill>
              <a:srgbClr val="3A4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7040880" y="2103120"/>
            <a:ext cx="731520" cy="731520"/>
          </a:xfrm>
          <a:prstGeom prst="ellipse">
            <a:avLst/>
          </a:prstGeom>
          <a:solidFill>
            <a:srgbClr val="1C2230"/>
          </a:solidFill>
          <a:ln cap="flat" cmpd="sng" w="12700">
            <a:solidFill>
              <a:srgbClr val="1C2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31075" y="2293315"/>
            <a:ext cx="351130" cy="35113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3"/>
          <p:cNvSpPr txBox="1"/>
          <p:nvPr/>
        </p:nvSpPr>
        <p:spPr>
          <a:xfrm>
            <a:off x="6263640" y="288036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Microsoft JhengHe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NPC 回應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 txBox="1"/>
          <p:nvPr/>
        </p:nvSpPr>
        <p:spPr>
          <a:xfrm>
            <a:off x="6263640" y="32461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B6C8"/>
              </a:buClr>
              <a:buSzPts val="1300"/>
              <a:buFont typeface="Microsoft JhengHei"/>
              <a:buNone/>
            </a:pPr>
            <a:r>
              <a:rPr b="0" i="0" lang="en-US" sz="1300" u="none" cap="none" strike="noStrike">
                <a:solidFill>
                  <a:srgbClr val="AEB6C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字一個個冒出來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 txBox="1"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6C8"/>
              </a:buClr>
              <a:buSzPts val="1300"/>
              <a:buFont typeface="Microsoft JhengHei"/>
              <a:buNone/>
            </a:pPr>
            <a:r>
              <a:rPr b="0" i="0" lang="en-US" sz="1300" u="none" cap="none" strike="noStrike">
                <a:solidFill>
                  <a:srgbClr val="AEB6C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Gemma 4 E4B INT4  ·  LM Studio  ·  Intel Lunar Lake 228V  ·  32GB RAM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3600"/>
              <a:buFont typeface="Microsoft JhengHei"/>
              <a:buNone/>
            </a:pPr>
            <a:r>
              <a:rPr b="1" i="0" lang="en-US" sz="36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原理:LLM 怎麼回答你?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548640" y="1234440"/>
            <a:ext cx="8046720" cy="548640"/>
          </a:xfrm>
          <a:prstGeom prst="roundRect">
            <a:avLst>
              <a:gd fmla="val 16667" name="adj"/>
            </a:avLst>
          </a:prstGeom>
          <a:solidFill>
            <a:srgbClr val="1C2230"/>
          </a:solidFill>
          <a:ln cap="flat" cmpd="sng" w="12700">
            <a:solidFill>
              <a:srgbClr val="1C2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 txBox="1"/>
          <p:nvPr/>
        </p:nvSpPr>
        <p:spPr>
          <a:xfrm>
            <a:off x="822960" y="1234440"/>
            <a:ext cx="7498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33A"/>
              </a:buClr>
              <a:buSzPts val="2000"/>
              <a:buFont typeface="Microsoft JhengHei"/>
              <a:buNone/>
            </a:pPr>
            <a:r>
              <a:rPr b="1" i="0" lang="en-US" sz="2000" u="none" cap="none" strike="noStrike">
                <a:solidFill>
                  <a:srgbClr val="F2A33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先讀你的問題:</a:t>
            </a:r>
            <a:r>
              <a:rPr b="1" i="0" lang="en-US" sz="20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台灣最高的山是哪座?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548640" y="1965960"/>
            <a:ext cx="8046720" cy="457200"/>
          </a:xfrm>
          <a:prstGeom prst="roundRect">
            <a:avLst>
              <a:gd fmla="val 20000" name="adj"/>
            </a:avLst>
          </a:prstGeom>
          <a:solidFill>
            <a:srgbClr val="F1F3F7"/>
          </a:solidFill>
          <a:ln cap="flat" cmpd="sng" w="12700">
            <a:solidFill>
              <a:srgbClr val="F1F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713232" y="2029968"/>
            <a:ext cx="329184" cy="329184"/>
          </a:xfrm>
          <a:prstGeom prst="ellipse">
            <a:avLst/>
          </a:prstGeom>
          <a:solidFill>
            <a:srgbClr val="1C2230"/>
          </a:solidFill>
          <a:ln cap="flat" cmpd="sng" w="12700">
            <a:solidFill>
              <a:srgbClr val="1C2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 txBox="1"/>
          <p:nvPr/>
        </p:nvSpPr>
        <p:spPr>
          <a:xfrm>
            <a:off x="713232" y="202996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33A"/>
              </a:buClr>
              <a:buSzPts val="1400"/>
              <a:buFont typeface="Microsoft JhengHei"/>
              <a:buNone/>
            </a:pPr>
            <a:r>
              <a:rPr b="1" i="0" lang="en-US" sz="1400" u="none" cap="none" strike="noStrike">
                <a:solidFill>
                  <a:srgbClr val="F2A33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 txBox="1"/>
          <p:nvPr/>
        </p:nvSpPr>
        <p:spPr>
          <a:xfrm>
            <a:off x="1280160" y="196596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6500"/>
              </a:buClr>
              <a:buSzPts val="2200"/>
              <a:buFont typeface="Microsoft JhengHei"/>
              <a:buNone/>
            </a:pPr>
            <a:r>
              <a:rPr b="1" i="0" lang="en-US" sz="2200" u="none" cap="none" strike="noStrike">
                <a:solidFill>
                  <a:srgbClr val="B865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玉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 txBox="1"/>
          <p:nvPr/>
        </p:nvSpPr>
        <p:spPr>
          <a:xfrm>
            <a:off x="5760720" y="196596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Microsoft JhengHe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猜出第一個字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548640" y="2514600"/>
            <a:ext cx="8046720" cy="457200"/>
          </a:xfrm>
          <a:prstGeom prst="roundRect">
            <a:avLst>
              <a:gd fmla="val 20000" name="adj"/>
            </a:avLst>
          </a:prstGeom>
          <a:solidFill>
            <a:srgbClr val="F1F3F7"/>
          </a:solidFill>
          <a:ln cap="flat" cmpd="sng" w="12700">
            <a:solidFill>
              <a:srgbClr val="F1F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713232" y="2578608"/>
            <a:ext cx="329184" cy="329184"/>
          </a:xfrm>
          <a:prstGeom prst="ellipse">
            <a:avLst/>
          </a:prstGeom>
          <a:solidFill>
            <a:srgbClr val="1C2230"/>
          </a:solidFill>
          <a:ln cap="flat" cmpd="sng" w="12700">
            <a:solidFill>
              <a:srgbClr val="1C2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 txBox="1"/>
          <p:nvPr/>
        </p:nvSpPr>
        <p:spPr>
          <a:xfrm>
            <a:off x="713232" y="257860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33A"/>
              </a:buClr>
              <a:buSzPts val="1400"/>
              <a:buFont typeface="Microsoft JhengHei"/>
              <a:buNone/>
            </a:pPr>
            <a:r>
              <a:rPr b="1" i="0" lang="en-US" sz="1400" u="none" cap="none" strike="noStrike">
                <a:solidFill>
                  <a:srgbClr val="F2A33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 txBox="1"/>
          <p:nvPr/>
        </p:nvSpPr>
        <p:spPr>
          <a:xfrm>
            <a:off x="1280160" y="251460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2200"/>
              <a:buFont typeface="Microsoft JhengHei"/>
              <a:buNone/>
            </a:pPr>
            <a:r>
              <a:rPr b="1" i="0" lang="en-US" sz="22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玉</a:t>
            </a:r>
            <a:r>
              <a:rPr b="1" i="0" lang="en-US" sz="2200" u="none" cap="none" strike="noStrike">
                <a:solidFill>
                  <a:srgbClr val="B865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山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 txBox="1"/>
          <p:nvPr/>
        </p:nvSpPr>
        <p:spPr>
          <a:xfrm>
            <a:off x="5760720" y="251460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Microsoft JhengHe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接上去,再猜下一個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548640" y="3063240"/>
            <a:ext cx="8046720" cy="457200"/>
          </a:xfrm>
          <a:prstGeom prst="roundRect">
            <a:avLst>
              <a:gd fmla="val 20000" name="adj"/>
            </a:avLst>
          </a:prstGeom>
          <a:solidFill>
            <a:srgbClr val="F1F3F7"/>
          </a:solidFill>
          <a:ln cap="flat" cmpd="sng" w="12700">
            <a:solidFill>
              <a:srgbClr val="F1F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713232" y="3127248"/>
            <a:ext cx="329184" cy="329184"/>
          </a:xfrm>
          <a:prstGeom prst="ellipse">
            <a:avLst/>
          </a:prstGeom>
          <a:solidFill>
            <a:srgbClr val="1C2230"/>
          </a:solidFill>
          <a:ln cap="flat" cmpd="sng" w="12700">
            <a:solidFill>
              <a:srgbClr val="1C2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 txBox="1"/>
          <p:nvPr/>
        </p:nvSpPr>
        <p:spPr>
          <a:xfrm>
            <a:off x="713232" y="312724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33A"/>
              </a:buClr>
              <a:buSzPts val="1400"/>
              <a:buFont typeface="Microsoft JhengHei"/>
              <a:buNone/>
            </a:pPr>
            <a:r>
              <a:rPr b="1" i="0" lang="en-US" sz="1400" u="none" cap="none" strike="noStrike">
                <a:solidFill>
                  <a:srgbClr val="F2A33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 txBox="1"/>
          <p:nvPr/>
        </p:nvSpPr>
        <p:spPr>
          <a:xfrm>
            <a:off x="1280160" y="306324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2200"/>
              <a:buFont typeface="Microsoft JhengHei"/>
              <a:buNone/>
            </a:pPr>
            <a:r>
              <a:rPr b="1" i="0" lang="en-US" sz="22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玉山</a:t>
            </a:r>
            <a:r>
              <a:rPr b="1" i="0" lang="en-US" sz="2200" u="none" cap="none" strike="noStrike">
                <a:solidFill>
                  <a:srgbClr val="B865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是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5760720" y="306324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Microsoft JhengHe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接上去,再猜下一個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548640" y="3611880"/>
            <a:ext cx="8046720" cy="457200"/>
          </a:xfrm>
          <a:prstGeom prst="roundRect">
            <a:avLst>
              <a:gd fmla="val 20000" name="adj"/>
            </a:avLst>
          </a:prstGeom>
          <a:solidFill>
            <a:srgbClr val="F1F3F7"/>
          </a:solidFill>
          <a:ln cap="flat" cmpd="sng" w="12700">
            <a:solidFill>
              <a:srgbClr val="F1F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713232" y="3675888"/>
            <a:ext cx="329184" cy="329184"/>
          </a:xfrm>
          <a:prstGeom prst="ellipse">
            <a:avLst/>
          </a:prstGeom>
          <a:solidFill>
            <a:srgbClr val="1C2230"/>
          </a:solidFill>
          <a:ln cap="flat" cmpd="sng" w="12700">
            <a:solidFill>
              <a:srgbClr val="1C2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 txBox="1"/>
          <p:nvPr/>
        </p:nvSpPr>
        <p:spPr>
          <a:xfrm>
            <a:off x="713232" y="367588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33A"/>
              </a:buClr>
              <a:buSzPts val="1400"/>
              <a:buFont typeface="Microsoft JhengHei"/>
              <a:buNone/>
            </a:pPr>
            <a:r>
              <a:rPr b="1" i="0" lang="en-US" sz="1400" u="none" cap="none" strike="noStrike">
                <a:solidFill>
                  <a:srgbClr val="F2A33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…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 txBox="1"/>
          <p:nvPr/>
        </p:nvSpPr>
        <p:spPr>
          <a:xfrm>
            <a:off x="1280160" y="361188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2200"/>
              <a:buFont typeface="Microsoft JhengHei"/>
              <a:buNone/>
            </a:pPr>
            <a:r>
              <a:rPr b="1" i="0" lang="en-US" sz="22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玉山是</a:t>
            </a:r>
            <a:r>
              <a:rPr b="1" i="0" lang="en-US" sz="2200" u="none" cap="none" strike="noStrike">
                <a:solidFill>
                  <a:srgbClr val="B865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台灣最高的山。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 txBox="1"/>
          <p:nvPr/>
        </p:nvSpPr>
        <p:spPr>
          <a:xfrm>
            <a:off x="5760720" y="361188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Microsoft JhengHe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一直重複到結束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548640" y="4251960"/>
            <a:ext cx="8046720" cy="594360"/>
          </a:xfrm>
          <a:prstGeom prst="roundRect">
            <a:avLst>
              <a:gd fmla="val 15385" name="adj"/>
            </a:avLst>
          </a:prstGeom>
          <a:solidFill>
            <a:srgbClr val="1C2230"/>
          </a:solidFill>
          <a:ln cap="flat" cmpd="sng" w="12700">
            <a:solidFill>
              <a:srgbClr val="1C2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 txBox="1"/>
          <p:nvPr/>
        </p:nvSpPr>
        <p:spPr>
          <a:xfrm>
            <a:off x="548640" y="4251960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icrosoft JhengHe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回答是一個字一個字接出來的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3600"/>
              <a:buFont typeface="Microsoft JhengHei"/>
              <a:buNone/>
            </a:pPr>
            <a:r>
              <a:rPr b="1" i="0" lang="en-US" sz="36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怎麼挑選適合的電腦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800"/>
              <a:buFont typeface="Microsoft JhengHei"/>
              <a:buNone/>
            </a:pPr>
            <a:r>
              <a:rPr b="0" i="0" lang="en-US" sz="1800" u="none" cap="none" strike="noStrike">
                <a:solidFill>
                  <a:srgbClr val="5B647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先看 LLM 需要什麼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548640" y="1600200"/>
            <a:ext cx="8046720" cy="914400"/>
          </a:xfrm>
          <a:prstGeom prst="roundRect">
            <a:avLst>
              <a:gd fmla="val 10000" name="adj"/>
            </a:avLst>
          </a:prstGeom>
          <a:solidFill>
            <a:srgbClr val="F1F3F7"/>
          </a:solidFill>
          <a:ln cap="flat" cmpd="sng" w="12700">
            <a:solidFill>
              <a:srgbClr val="F1F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1C2230"/>
          </a:solidFill>
          <a:ln cap="flat" cmpd="sng" w="12700">
            <a:solidFill>
              <a:srgbClr val="1C2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" name="Google Shape;10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9886" y="192572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5"/>
          <p:cNvSpPr txBox="1"/>
          <p:nvPr/>
        </p:nvSpPr>
        <p:spPr>
          <a:xfrm>
            <a:off x="1600200" y="1600200"/>
            <a:ext cx="4206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1900"/>
              <a:buFont typeface="Microsoft JhengHei"/>
              <a:buNone/>
            </a:pPr>
            <a:r>
              <a:rPr b="1" i="0" lang="en-US" sz="19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顯存  </a:t>
            </a:r>
            <a:r>
              <a:rPr b="1" i="0" lang="en-US" sz="1900" u="none" cap="none" strike="noStrike">
                <a:solidFill>
                  <a:srgbClr val="B865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= 大腦智商</a:t>
            </a:r>
            <a:r>
              <a:rPr b="1" lang="en-US" sz="1900">
                <a:solidFill>
                  <a:srgbClr val="B865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上限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 txBox="1"/>
          <p:nvPr/>
        </p:nvSpPr>
        <p:spPr>
          <a:xfrm>
            <a:off x="5943600" y="1600200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1400"/>
              <a:buFont typeface="Microsoft JhengHei"/>
              <a:buNone/>
            </a:pPr>
            <a:r>
              <a:rPr lang="en-US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決定能放多大的模型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Microsoft JhengHei"/>
              <a:buNone/>
            </a:pPr>
            <a:r>
              <a:rPr b="0" i="0" lang="en-US" sz="1100" u="none" cap="none" strike="noStrike">
                <a:solidFill>
                  <a:srgbClr val="5B647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Mac 的統一記憶體當顯存用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548640" y="2679192"/>
            <a:ext cx="8046720" cy="914400"/>
          </a:xfrm>
          <a:prstGeom prst="roundRect">
            <a:avLst>
              <a:gd fmla="val 10000" name="adj"/>
            </a:avLst>
          </a:prstGeom>
          <a:solidFill>
            <a:srgbClr val="F1F3F7"/>
          </a:solidFill>
          <a:ln cap="flat" cmpd="sng" w="12700">
            <a:solidFill>
              <a:srgbClr val="F1F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777240" y="2862072"/>
            <a:ext cx="548640" cy="548640"/>
          </a:xfrm>
          <a:prstGeom prst="ellipse">
            <a:avLst/>
          </a:prstGeom>
          <a:solidFill>
            <a:srgbClr val="1C2230"/>
          </a:solidFill>
          <a:ln cap="flat" cmpd="sng" w="12700">
            <a:solidFill>
              <a:srgbClr val="1C2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8" name="Google Shape;10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9886" y="3004718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5"/>
          <p:cNvSpPr txBox="1"/>
          <p:nvPr/>
        </p:nvSpPr>
        <p:spPr>
          <a:xfrm>
            <a:off x="1600200" y="2679192"/>
            <a:ext cx="4206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1900"/>
              <a:buFont typeface="Microsoft JhengHei"/>
              <a:buNone/>
            </a:pPr>
            <a:r>
              <a:rPr b="1" i="0" lang="en-US" sz="19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算力  </a:t>
            </a:r>
            <a:r>
              <a:rPr b="1" i="0" lang="en-US" sz="1900" u="none" cap="none" strike="noStrike">
                <a:solidFill>
                  <a:srgbClr val="B865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= 大腦整理問題的速度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 txBox="1"/>
          <p:nvPr/>
        </p:nvSpPr>
        <p:spPr>
          <a:xfrm>
            <a:off x="5943600" y="2679192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1400"/>
              <a:buFont typeface="Microsoft JhengHei"/>
              <a:buNone/>
            </a:pPr>
            <a:r>
              <a:rPr lang="en-US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決定開始回答前要想多久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548640" y="3758184"/>
            <a:ext cx="8046720" cy="914400"/>
          </a:xfrm>
          <a:prstGeom prst="roundRect">
            <a:avLst>
              <a:gd fmla="val 10000" name="adj"/>
            </a:avLst>
          </a:prstGeom>
          <a:solidFill>
            <a:srgbClr val="F1F3F7"/>
          </a:solidFill>
          <a:ln cap="flat" cmpd="sng" w="12700">
            <a:solidFill>
              <a:srgbClr val="F1F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777240" y="3941064"/>
            <a:ext cx="548640" cy="548640"/>
          </a:xfrm>
          <a:prstGeom prst="ellipse">
            <a:avLst/>
          </a:prstGeom>
          <a:solidFill>
            <a:srgbClr val="1C2230"/>
          </a:solidFill>
          <a:ln cap="flat" cmpd="sng" w="12700">
            <a:solidFill>
              <a:srgbClr val="1C2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3" name="Google Shape;11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9886" y="4083710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5"/>
          <p:cNvSpPr txBox="1"/>
          <p:nvPr/>
        </p:nvSpPr>
        <p:spPr>
          <a:xfrm>
            <a:off x="1600200" y="3758184"/>
            <a:ext cx="4206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1900"/>
              <a:buFont typeface="Microsoft JhengHei"/>
              <a:buNone/>
            </a:pPr>
            <a:r>
              <a:rPr b="1" i="0" lang="en-US" sz="19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頻寬  </a:t>
            </a:r>
            <a:r>
              <a:rPr b="1" i="0" lang="en-US" sz="1900" u="none" cap="none" strike="noStrike">
                <a:solidFill>
                  <a:srgbClr val="B865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= 說話速度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 txBox="1"/>
          <p:nvPr/>
        </p:nvSpPr>
        <p:spPr>
          <a:xfrm>
            <a:off x="5943600" y="3758184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1400"/>
              <a:buFont typeface="Microsoft JhengHei"/>
              <a:buNone/>
            </a:pPr>
            <a:r>
              <a:rPr lang="en-US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決定回答時吐字多快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3600"/>
              <a:buFont typeface="Microsoft JhengHei"/>
              <a:buNone/>
            </a:pPr>
            <a:r>
              <a:rPr b="1" i="0" lang="en-US" sz="36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Windows + 顯卡 vs Mac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548640" y="1371600"/>
            <a:ext cx="3886200" cy="3200400"/>
          </a:xfrm>
          <a:prstGeom prst="roundRect">
            <a:avLst>
              <a:gd fmla="val 3429" name="adj"/>
            </a:avLst>
          </a:prstGeom>
          <a:solidFill>
            <a:srgbClr val="F1F3F7"/>
          </a:solidFill>
          <a:ln cap="flat" cmpd="sng" w="12700">
            <a:solidFill>
              <a:srgbClr val="F1F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822960" y="1600200"/>
            <a:ext cx="640080" cy="640080"/>
          </a:xfrm>
          <a:prstGeom prst="ellipse">
            <a:avLst/>
          </a:prstGeom>
          <a:solidFill>
            <a:srgbClr val="1C2230"/>
          </a:solidFill>
          <a:ln cap="flat" cmpd="sng" w="12700">
            <a:solidFill>
              <a:srgbClr val="1C2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" name="Google Shape;12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9381" y="176662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6"/>
          <p:cNvSpPr txBox="1"/>
          <p:nvPr/>
        </p:nvSpPr>
        <p:spPr>
          <a:xfrm>
            <a:off x="1600200" y="160020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2000"/>
              <a:buFont typeface="Microsoft JhengHei"/>
              <a:buNone/>
            </a:pPr>
            <a:r>
              <a:rPr b="1" i="0" lang="en-US" sz="20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Windows + 顯卡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 txBox="1"/>
          <p:nvPr/>
        </p:nvSpPr>
        <p:spPr>
          <a:xfrm>
            <a:off x="822960" y="256032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顯存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1645920" y="2734056"/>
            <a:ext cx="201168" cy="201168"/>
          </a:xfrm>
          <a:prstGeom prst="ellipse">
            <a:avLst/>
          </a:prstGeom>
          <a:solidFill>
            <a:srgbClr val="2FA595"/>
          </a:solidFill>
          <a:ln cap="flat" cmpd="sng" w="12700">
            <a:solidFill>
              <a:srgbClr val="2FA5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1920240" y="2734056"/>
            <a:ext cx="201168" cy="201168"/>
          </a:xfrm>
          <a:prstGeom prst="ellipse">
            <a:avLst/>
          </a:prstGeom>
          <a:solidFill>
            <a:srgbClr val="2FA595"/>
          </a:solidFill>
          <a:ln cap="flat" cmpd="sng" w="12700">
            <a:solidFill>
              <a:srgbClr val="2FA5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2194560" y="2734056"/>
            <a:ext cx="201168" cy="201168"/>
          </a:xfrm>
          <a:prstGeom prst="ellipse">
            <a:avLst/>
          </a:prstGeom>
          <a:solidFill>
            <a:srgbClr val="D5D9E2"/>
          </a:solidFill>
          <a:ln cap="flat" cmpd="sng" w="12700">
            <a:solidFill>
              <a:srgbClr val="D5D9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2468880" y="2734056"/>
            <a:ext cx="201168" cy="201168"/>
          </a:xfrm>
          <a:prstGeom prst="ellipse">
            <a:avLst/>
          </a:prstGeom>
          <a:solidFill>
            <a:srgbClr val="D5D9E2"/>
          </a:solidFill>
          <a:ln cap="flat" cmpd="sng" w="12700">
            <a:solidFill>
              <a:srgbClr val="D5D9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 txBox="1"/>
          <p:nvPr/>
        </p:nvSpPr>
        <p:spPr>
          <a:xfrm>
            <a:off x="2880360" y="256032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中低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Microsoft JhengHei"/>
              <a:buNone/>
            </a:pPr>
            <a:r>
              <a:rPr b="0" i="0" lang="en-US" sz="1100" u="none" cap="none" strike="noStrike">
                <a:solidFill>
                  <a:srgbClr val="5B647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多數 8~32GB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 txBox="1"/>
          <p:nvPr/>
        </p:nvSpPr>
        <p:spPr>
          <a:xfrm>
            <a:off x="822960" y="3218688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頻寬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1645920" y="3392424"/>
            <a:ext cx="201168" cy="201168"/>
          </a:xfrm>
          <a:prstGeom prst="ellipse">
            <a:avLst/>
          </a:prstGeom>
          <a:solidFill>
            <a:srgbClr val="2FA595"/>
          </a:solidFill>
          <a:ln cap="flat" cmpd="sng" w="12700">
            <a:solidFill>
              <a:srgbClr val="2FA5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1920240" y="3392424"/>
            <a:ext cx="201168" cy="201168"/>
          </a:xfrm>
          <a:prstGeom prst="ellipse">
            <a:avLst/>
          </a:prstGeom>
          <a:solidFill>
            <a:srgbClr val="2FA595"/>
          </a:solidFill>
          <a:ln cap="flat" cmpd="sng" w="12700">
            <a:solidFill>
              <a:srgbClr val="2FA5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2194560" y="3392424"/>
            <a:ext cx="201168" cy="201168"/>
          </a:xfrm>
          <a:prstGeom prst="ellipse">
            <a:avLst/>
          </a:prstGeom>
          <a:solidFill>
            <a:srgbClr val="2FA595"/>
          </a:solidFill>
          <a:ln cap="flat" cmpd="sng" w="12700">
            <a:solidFill>
              <a:srgbClr val="2FA5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2468880" y="3392424"/>
            <a:ext cx="201168" cy="201168"/>
          </a:xfrm>
          <a:prstGeom prst="ellipse">
            <a:avLst/>
          </a:prstGeom>
          <a:solidFill>
            <a:srgbClr val="2FA595"/>
          </a:solidFill>
          <a:ln cap="flat" cmpd="sng" w="12700">
            <a:solidFill>
              <a:srgbClr val="2FA5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 txBox="1"/>
          <p:nvPr/>
        </p:nvSpPr>
        <p:spPr>
          <a:xfrm>
            <a:off x="2880360" y="3218688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高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 txBox="1"/>
          <p:nvPr/>
        </p:nvSpPr>
        <p:spPr>
          <a:xfrm>
            <a:off x="822960" y="3877056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算力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1645920" y="4050792"/>
            <a:ext cx="201168" cy="201168"/>
          </a:xfrm>
          <a:prstGeom prst="ellipse">
            <a:avLst/>
          </a:prstGeom>
          <a:solidFill>
            <a:srgbClr val="2FA595"/>
          </a:solidFill>
          <a:ln cap="flat" cmpd="sng" w="12700">
            <a:solidFill>
              <a:srgbClr val="2FA5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1920240" y="4050792"/>
            <a:ext cx="201168" cy="201168"/>
          </a:xfrm>
          <a:prstGeom prst="ellipse">
            <a:avLst/>
          </a:prstGeom>
          <a:solidFill>
            <a:srgbClr val="2FA595"/>
          </a:solidFill>
          <a:ln cap="flat" cmpd="sng" w="12700">
            <a:solidFill>
              <a:srgbClr val="2FA5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2194560" y="4050792"/>
            <a:ext cx="201168" cy="201168"/>
          </a:xfrm>
          <a:prstGeom prst="ellipse">
            <a:avLst/>
          </a:prstGeom>
          <a:solidFill>
            <a:srgbClr val="2FA595"/>
          </a:solidFill>
          <a:ln cap="flat" cmpd="sng" w="12700">
            <a:solidFill>
              <a:srgbClr val="2FA5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2468880" y="4050792"/>
            <a:ext cx="201168" cy="201168"/>
          </a:xfrm>
          <a:prstGeom prst="ellipse">
            <a:avLst/>
          </a:prstGeom>
          <a:solidFill>
            <a:srgbClr val="2FA595"/>
          </a:solidFill>
          <a:ln cap="flat" cmpd="sng" w="12700">
            <a:solidFill>
              <a:srgbClr val="2FA5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 txBox="1"/>
          <p:nvPr/>
        </p:nvSpPr>
        <p:spPr>
          <a:xfrm>
            <a:off x="2880360" y="3877056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高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4709160" y="1371600"/>
            <a:ext cx="3886200" cy="3200400"/>
          </a:xfrm>
          <a:prstGeom prst="roundRect">
            <a:avLst>
              <a:gd fmla="val 3429" name="adj"/>
            </a:avLst>
          </a:prstGeom>
          <a:solidFill>
            <a:srgbClr val="F1F3F7"/>
          </a:solidFill>
          <a:ln cap="flat" cmpd="sng" w="12700">
            <a:solidFill>
              <a:srgbClr val="F1F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4983480" y="1600200"/>
            <a:ext cx="640080" cy="640080"/>
          </a:xfrm>
          <a:prstGeom prst="ellipse">
            <a:avLst/>
          </a:prstGeom>
          <a:solidFill>
            <a:srgbClr val="1C2230"/>
          </a:solidFill>
          <a:ln cap="flat" cmpd="sng" w="12700">
            <a:solidFill>
              <a:srgbClr val="1C2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6" name="Google Shape;14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9901" y="176662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6"/>
          <p:cNvSpPr txBox="1"/>
          <p:nvPr/>
        </p:nvSpPr>
        <p:spPr>
          <a:xfrm>
            <a:off x="5760720" y="160020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2000"/>
              <a:buFont typeface="Microsoft JhengHei"/>
              <a:buNone/>
            </a:pPr>
            <a:r>
              <a:rPr b="1" i="0" lang="en-US" sz="20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Apple Mac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4983480" y="256032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顯存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5806440" y="2734056"/>
            <a:ext cx="201168" cy="201168"/>
          </a:xfrm>
          <a:prstGeom prst="ellipse">
            <a:avLst/>
          </a:prstGeom>
          <a:solidFill>
            <a:srgbClr val="F2A33A"/>
          </a:solidFill>
          <a:ln cap="flat" cmpd="sng" w="12700">
            <a:solidFill>
              <a:srgbClr val="F2A3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6080760" y="2734056"/>
            <a:ext cx="201168" cy="201168"/>
          </a:xfrm>
          <a:prstGeom prst="ellipse">
            <a:avLst/>
          </a:prstGeom>
          <a:solidFill>
            <a:srgbClr val="F2A33A"/>
          </a:solidFill>
          <a:ln cap="flat" cmpd="sng" w="12700">
            <a:solidFill>
              <a:srgbClr val="F2A3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6355080" y="2734056"/>
            <a:ext cx="201168" cy="201168"/>
          </a:xfrm>
          <a:prstGeom prst="ellipse">
            <a:avLst/>
          </a:prstGeom>
          <a:solidFill>
            <a:srgbClr val="F2A33A"/>
          </a:solidFill>
          <a:ln cap="flat" cmpd="sng" w="12700">
            <a:solidFill>
              <a:srgbClr val="F2A3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6629400" y="2734056"/>
            <a:ext cx="201168" cy="201168"/>
          </a:xfrm>
          <a:prstGeom prst="ellipse">
            <a:avLst/>
          </a:prstGeom>
          <a:solidFill>
            <a:srgbClr val="F2A33A"/>
          </a:solidFill>
          <a:ln cap="flat" cmpd="sng" w="12700">
            <a:solidFill>
              <a:srgbClr val="F2A3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 txBox="1"/>
          <p:nvPr/>
        </p:nvSpPr>
        <p:spPr>
          <a:xfrm>
            <a:off x="7040880" y="256032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大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Microsoft JhengHei"/>
              <a:buNone/>
            </a:pPr>
            <a:r>
              <a:rPr b="0" i="0" lang="en-US" sz="1100" u="none" cap="none" strike="noStrike">
                <a:solidFill>
                  <a:srgbClr val="5B647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可選到 256GB 以上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 txBox="1"/>
          <p:nvPr/>
        </p:nvSpPr>
        <p:spPr>
          <a:xfrm>
            <a:off x="4983480" y="3218688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頻寬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5806440" y="3392424"/>
            <a:ext cx="201168" cy="201168"/>
          </a:xfrm>
          <a:prstGeom prst="ellipse">
            <a:avLst/>
          </a:prstGeom>
          <a:solidFill>
            <a:srgbClr val="F2A33A"/>
          </a:solidFill>
          <a:ln cap="flat" cmpd="sng" w="12700">
            <a:solidFill>
              <a:srgbClr val="F2A3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6080760" y="3392424"/>
            <a:ext cx="201168" cy="201168"/>
          </a:xfrm>
          <a:prstGeom prst="ellipse">
            <a:avLst/>
          </a:prstGeom>
          <a:solidFill>
            <a:srgbClr val="F2A33A"/>
          </a:solidFill>
          <a:ln cap="flat" cmpd="sng" w="12700">
            <a:solidFill>
              <a:srgbClr val="F2A3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6355080" y="3392424"/>
            <a:ext cx="201168" cy="201168"/>
          </a:xfrm>
          <a:prstGeom prst="ellipse">
            <a:avLst/>
          </a:prstGeom>
          <a:solidFill>
            <a:srgbClr val="F2A33A"/>
          </a:solidFill>
          <a:ln cap="flat" cmpd="sng" w="12700">
            <a:solidFill>
              <a:srgbClr val="F2A3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6629400" y="3392424"/>
            <a:ext cx="201168" cy="201168"/>
          </a:xfrm>
          <a:prstGeom prst="ellipse">
            <a:avLst/>
          </a:prstGeom>
          <a:solidFill>
            <a:srgbClr val="D5D9E2"/>
          </a:solidFill>
          <a:ln cap="flat" cmpd="sng" w="12700">
            <a:solidFill>
              <a:srgbClr val="D5D9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 txBox="1"/>
          <p:nvPr/>
        </p:nvSpPr>
        <p:spPr>
          <a:xfrm>
            <a:off x="7040880" y="3218688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中高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 txBox="1"/>
          <p:nvPr/>
        </p:nvSpPr>
        <p:spPr>
          <a:xfrm>
            <a:off x="4983480" y="3877056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算力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5806440" y="4050792"/>
            <a:ext cx="201168" cy="201168"/>
          </a:xfrm>
          <a:prstGeom prst="ellipse">
            <a:avLst/>
          </a:prstGeom>
          <a:solidFill>
            <a:srgbClr val="F2A33A"/>
          </a:solidFill>
          <a:ln cap="flat" cmpd="sng" w="12700">
            <a:solidFill>
              <a:srgbClr val="F2A3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6080760" y="4050792"/>
            <a:ext cx="201168" cy="201168"/>
          </a:xfrm>
          <a:prstGeom prst="ellipse">
            <a:avLst/>
          </a:prstGeom>
          <a:solidFill>
            <a:srgbClr val="F2A33A"/>
          </a:solidFill>
          <a:ln cap="flat" cmpd="sng" w="12700">
            <a:solidFill>
              <a:srgbClr val="F2A3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6355080" y="4050792"/>
            <a:ext cx="201168" cy="201168"/>
          </a:xfrm>
          <a:prstGeom prst="ellipse">
            <a:avLst/>
          </a:prstGeom>
          <a:solidFill>
            <a:srgbClr val="D5D9E2"/>
          </a:solidFill>
          <a:ln cap="flat" cmpd="sng" w="12700">
            <a:solidFill>
              <a:srgbClr val="D5D9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6629400" y="4050792"/>
            <a:ext cx="201168" cy="201168"/>
          </a:xfrm>
          <a:prstGeom prst="ellipse">
            <a:avLst/>
          </a:prstGeom>
          <a:solidFill>
            <a:srgbClr val="D5D9E2"/>
          </a:solidFill>
          <a:ln cap="flat" cmpd="sng" w="12700">
            <a:solidFill>
              <a:srgbClr val="D5D9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 txBox="1"/>
          <p:nvPr/>
        </p:nvSpPr>
        <p:spPr>
          <a:xfrm>
            <a:off x="7040880" y="3877056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中等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3600"/>
              <a:buFont typeface="Microsoft JhengHei"/>
              <a:buNone/>
            </a:pPr>
            <a:r>
              <a:rPr b="1" i="0" lang="en-US" sz="36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軟體與模型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548640" y="1280160"/>
            <a:ext cx="8046720" cy="1005840"/>
          </a:xfrm>
          <a:prstGeom prst="roundRect">
            <a:avLst>
              <a:gd fmla="val 10909" name="adj"/>
            </a:avLst>
          </a:prstGeom>
          <a:solidFill>
            <a:srgbClr val="F1F3F7"/>
          </a:solidFill>
          <a:ln cap="flat" cmpd="sng" w="12700">
            <a:solidFill>
              <a:srgbClr val="F1F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868680" y="1463040"/>
            <a:ext cx="640080" cy="640080"/>
          </a:xfrm>
          <a:prstGeom prst="ellipse">
            <a:avLst/>
          </a:prstGeom>
          <a:solidFill>
            <a:srgbClr val="1C2230"/>
          </a:solidFill>
          <a:ln cap="flat" cmpd="sng" w="12700">
            <a:solidFill>
              <a:srgbClr val="1C2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4" name="Google Shape;17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101" y="162946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7"/>
          <p:cNvSpPr txBox="1"/>
          <p:nvPr/>
        </p:nvSpPr>
        <p:spPr>
          <a:xfrm>
            <a:off x="1737360" y="1280160"/>
            <a:ext cx="4114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2600"/>
              <a:buFont typeface="Microsoft JhengHei"/>
              <a:buNone/>
            </a:pPr>
            <a:r>
              <a:rPr b="1" i="0" lang="en-US" sz="26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Hugging Face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6858000" y="1554480"/>
            <a:ext cx="1463040" cy="457200"/>
          </a:xfrm>
          <a:prstGeom prst="roundRect">
            <a:avLst>
              <a:gd fmla="val 50000" name="adj"/>
            </a:avLst>
          </a:prstGeom>
          <a:solidFill>
            <a:srgbClr val="F2A33A"/>
          </a:solidFill>
          <a:ln cap="flat" cmpd="sng" w="12700">
            <a:solidFill>
              <a:srgbClr val="F2A3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 txBox="1"/>
          <p:nvPr/>
        </p:nvSpPr>
        <p:spPr>
          <a:xfrm>
            <a:off x="6858000" y="155448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模型倉庫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 txBox="1"/>
          <p:nvPr/>
        </p:nvSpPr>
        <p:spPr>
          <a:xfrm>
            <a:off x="548640" y="246888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400"/>
              <a:buFont typeface="Microsoft JhengHei"/>
              <a:buNone/>
            </a:pPr>
            <a:r>
              <a:rPr b="1" i="0" lang="en-US" sz="1400" u="none" cap="none" strike="noStrike">
                <a:solidFill>
                  <a:srgbClr val="5B647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跑模型的軟體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548640" y="2880360"/>
            <a:ext cx="3886200" cy="1737360"/>
          </a:xfrm>
          <a:prstGeom prst="roundRect">
            <a:avLst>
              <a:gd fmla="val 6316" name="adj"/>
            </a:avLst>
          </a:prstGeom>
          <a:solidFill>
            <a:srgbClr val="F1F3F7"/>
          </a:solidFill>
          <a:ln cap="flat" cmpd="sng" w="12700">
            <a:solidFill>
              <a:srgbClr val="F1F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1C2230"/>
          </a:solidFill>
          <a:ln cap="flat" cmpd="sng" w="12700">
            <a:solidFill>
              <a:srgbClr val="1C2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1" name="Google Shape;18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381" y="332110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7"/>
          <p:cNvSpPr txBox="1"/>
          <p:nvPr/>
        </p:nvSpPr>
        <p:spPr>
          <a:xfrm>
            <a:off x="1645920" y="315468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2000"/>
              <a:buFont typeface="Microsoft JhengHei"/>
              <a:buNone/>
            </a:pPr>
            <a:r>
              <a:rPr b="1" i="0" lang="en-US" sz="20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LM Studio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3337560" y="3246120"/>
            <a:ext cx="822960" cy="457200"/>
          </a:xfrm>
          <a:prstGeom prst="roundRect">
            <a:avLst>
              <a:gd fmla="val 50000" name="adj"/>
            </a:avLst>
          </a:prstGeom>
          <a:solidFill>
            <a:srgbClr val="F2A33A"/>
          </a:solidFill>
          <a:ln cap="flat" cmpd="sng" w="12700">
            <a:solidFill>
              <a:srgbClr val="F2A3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 txBox="1"/>
          <p:nvPr/>
        </p:nvSpPr>
        <p:spPr>
          <a:xfrm>
            <a:off x="3337560" y="3246120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可控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 txBox="1"/>
          <p:nvPr/>
        </p:nvSpPr>
        <p:spPr>
          <a:xfrm>
            <a:off x="822960" y="3977640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600"/>
              <a:buFont typeface="Microsoft JhengHei"/>
              <a:buNone/>
            </a:pPr>
            <a:r>
              <a:rPr b="0" i="0" lang="en-US" sz="1600" u="none" cap="none" strike="noStrike">
                <a:solidFill>
                  <a:srgbClr val="5B647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可以看到細部參數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4709160" y="2880360"/>
            <a:ext cx="3886200" cy="1737360"/>
          </a:xfrm>
          <a:prstGeom prst="roundRect">
            <a:avLst>
              <a:gd fmla="val 6316" name="adj"/>
            </a:avLst>
          </a:prstGeom>
          <a:solidFill>
            <a:srgbClr val="F1F3F7"/>
          </a:solidFill>
          <a:ln cap="flat" cmpd="sng" w="12700">
            <a:solidFill>
              <a:srgbClr val="F1F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4983480" y="3154680"/>
            <a:ext cx="640080" cy="640080"/>
          </a:xfrm>
          <a:prstGeom prst="ellipse">
            <a:avLst/>
          </a:prstGeom>
          <a:solidFill>
            <a:srgbClr val="1C2230"/>
          </a:solidFill>
          <a:ln cap="flat" cmpd="sng" w="12700">
            <a:solidFill>
              <a:srgbClr val="1C2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8" name="Google Shape;18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49901" y="332110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7"/>
          <p:cNvSpPr txBox="1"/>
          <p:nvPr/>
        </p:nvSpPr>
        <p:spPr>
          <a:xfrm>
            <a:off x="5806440" y="315468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2000"/>
              <a:buFont typeface="Microsoft JhengHei"/>
              <a:buNone/>
            </a:pPr>
            <a:r>
              <a:rPr b="1" i="0" lang="en-US" sz="20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Ollama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7498080" y="3246120"/>
            <a:ext cx="822960" cy="457200"/>
          </a:xfrm>
          <a:prstGeom prst="roundRect">
            <a:avLst>
              <a:gd fmla="val 50000" name="adj"/>
            </a:avLst>
          </a:prstGeom>
          <a:solidFill>
            <a:srgbClr val="F2A33A"/>
          </a:solidFill>
          <a:ln cap="flat" cmpd="sng" w="12700">
            <a:solidFill>
              <a:srgbClr val="F2A3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 txBox="1"/>
          <p:nvPr/>
        </p:nvSpPr>
        <p:spPr>
          <a:xfrm>
            <a:off x="7498080" y="3246120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簡單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 txBox="1"/>
          <p:nvPr/>
        </p:nvSpPr>
        <p:spPr>
          <a:xfrm>
            <a:off x="4983480" y="3977640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600"/>
              <a:buFont typeface="Microsoft JhengHei"/>
              <a:buNone/>
            </a:pPr>
            <a:r>
              <a:rPr lang="en-US" sz="1600">
                <a:solidFill>
                  <a:srgbClr val="5B647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易用但稍嫌簡化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3600"/>
              <a:buFont typeface="Microsoft JhengHei"/>
              <a:buNone/>
            </a:pPr>
            <a:r>
              <a:rPr b="1" i="0" lang="en-US" sz="36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模型檔名怎麼看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548640" y="1234440"/>
            <a:ext cx="8046600" cy="1280100"/>
          </a:xfrm>
          <a:prstGeom prst="roundRect">
            <a:avLst>
              <a:gd fmla="val 8571" name="adj"/>
            </a:avLst>
          </a:prstGeom>
          <a:solidFill>
            <a:srgbClr val="1C2230"/>
          </a:solidFill>
          <a:ln cap="flat" cmpd="sng" w="12700">
            <a:solidFill>
              <a:srgbClr val="1C2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 txBox="1"/>
          <p:nvPr/>
        </p:nvSpPr>
        <p:spPr>
          <a:xfrm>
            <a:off x="1798320" y="1371600"/>
            <a:ext cx="1493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ourier New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gemma</a:t>
            </a:r>
            <a:r>
              <a:rPr b="1" i="0" lang="en-US" sz="2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 txBox="1"/>
          <p:nvPr/>
        </p:nvSpPr>
        <p:spPr>
          <a:xfrm>
            <a:off x="2042160" y="201168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B6C8"/>
              </a:buClr>
              <a:buSzPts val="1400"/>
              <a:buFont typeface="Microsoft JhengHei"/>
              <a:buNone/>
            </a:pPr>
            <a:r>
              <a:rPr b="0" i="0" lang="en-US" sz="1400" u="none" cap="none" strike="noStrike">
                <a:solidFill>
                  <a:srgbClr val="AEB6C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模型名稱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 txBox="1"/>
          <p:nvPr/>
        </p:nvSpPr>
        <p:spPr>
          <a:xfrm>
            <a:off x="3291840" y="1371600"/>
            <a:ext cx="213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ourier New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 txBox="1"/>
          <p:nvPr/>
        </p:nvSpPr>
        <p:spPr>
          <a:xfrm>
            <a:off x="3505200" y="1371600"/>
            <a:ext cx="640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33A"/>
              </a:buClr>
              <a:buSzPts val="2800"/>
              <a:buFont typeface="Courier New"/>
              <a:buNone/>
            </a:pPr>
            <a:r>
              <a:rPr b="1" i="0" lang="en-US" sz="2600" u="none" cap="none" strike="noStrike">
                <a:solidFill>
                  <a:srgbClr val="F2A33A"/>
                </a:solidFill>
                <a:latin typeface="Courier New"/>
                <a:ea typeface="Courier New"/>
                <a:cs typeface="Courier New"/>
                <a:sym typeface="Courier New"/>
              </a:rPr>
              <a:t>12b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 txBox="1"/>
          <p:nvPr/>
        </p:nvSpPr>
        <p:spPr>
          <a:xfrm>
            <a:off x="3322320" y="201168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33A"/>
              </a:buClr>
              <a:buSzPts val="1400"/>
              <a:buFont typeface="Microsoft JhengHei"/>
              <a:buNone/>
            </a:pPr>
            <a:r>
              <a:rPr b="1" i="0" lang="en-US" sz="1400" u="none" cap="none" strike="noStrike">
                <a:solidFill>
                  <a:srgbClr val="F2A33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參數量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 txBox="1"/>
          <p:nvPr/>
        </p:nvSpPr>
        <p:spPr>
          <a:xfrm>
            <a:off x="4145280" y="1371600"/>
            <a:ext cx="21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ourier New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 txBox="1"/>
          <p:nvPr/>
        </p:nvSpPr>
        <p:spPr>
          <a:xfrm>
            <a:off x="4358640" y="1371600"/>
            <a:ext cx="42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ourier New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 txBox="1"/>
          <p:nvPr/>
        </p:nvSpPr>
        <p:spPr>
          <a:xfrm>
            <a:off x="4069080" y="201168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B6C8"/>
              </a:buClr>
              <a:buSzPts val="1400"/>
              <a:buFont typeface="Microsoft JhengHei"/>
              <a:buNone/>
            </a:pPr>
            <a:r>
              <a:rPr b="0" i="0" lang="en-US" sz="1400" u="none" cap="none" strike="noStrike">
                <a:solidFill>
                  <a:srgbClr val="AEB6C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對話版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 txBox="1"/>
          <p:nvPr/>
        </p:nvSpPr>
        <p:spPr>
          <a:xfrm>
            <a:off x="4785360" y="1371600"/>
            <a:ext cx="21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ourier New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 txBox="1"/>
          <p:nvPr/>
        </p:nvSpPr>
        <p:spPr>
          <a:xfrm>
            <a:off x="4998720" y="1371600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33A"/>
              </a:buClr>
              <a:buSzPts val="2800"/>
              <a:buFont typeface="Courier New"/>
              <a:buNone/>
            </a:pPr>
            <a:r>
              <a:rPr b="1" i="0" lang="en-US" sz="2600" u="none" cap="none" strike="noStrike">
                <a:solidFill>
                  <a:srgbClr val="F2A33A"/>
                </a:solidFill>
                <a:latin typeface="Courier New"/>
                <a:ea typeface="Courier New"/>
                <a:cs typeface="Courier New"/>
                <a:sym typeface="Courier New"/>
              </a:rPr>
              <a:t>Q4_K_M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 txBox="1"/>
          <p:nvPr/>
        </p:nvSpPr>
        <p:spPr>
          <a:xfrm>
            <a:off x="5135880" y="201168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33A"/>
              </a:buClr>
              <a:buSzPts val="1400"/>
              <a:buFont typeface="Microsoft JhengHei"/>
              <a:buNone/>
            </a:pPr>
            <a:r>
              <a:rPr b="1" i="0" lang="en-US" sz="1400" u="none" cap="none" strike="noStrike">
                <a:solidFill>
                  <a:srgbClr val="F2A33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量化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 txBox="1"/>
          <p:nvPr/>
        </p:nvSpPr>
        <p:spPr>
          <a:xfrm>
            <a:off x="6278880" y="1371600"/>
            <a:ext cx="106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33A"/>
              </a:buClr>
              <a:buSzPts val="2800"/>
              <a:buFont typeface="Courier New"/>
              <a:buNone/>
            </a:pPr>
            <a:r>
              <a:rPr b="1" i="0" lang="en-US" sz="2600" u="none" cap="none" strike="noStrike">
                <a:solidFill>
                  <a:srgbClr val="F2A33A"/>
                </a:solidFill>
                <a:latin typeface="Courier New"/>
                <a:ea typeface="Courier New"/>
                <a:cs typeface="Courier New"/>
                <a:sym typeface="Courier New"/>
              </a:rPr>
              <a:t>.gguf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 txBox="1"/>
          <p:nvPr/>
        </p:nvSpPr>
        <p:spPr>
          <a:xfrm>
            <a:off x="6309360" y="201168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33A"/>
              </a:buClr>
              <a:buSzPts val="1400"/>
              <a:buFont typeface="Microsoft JhengHei"/>
              <a:buNone/>
            </a:pPr>
            <a:r>
              <a:rPr b="1" i="0" lang="en-US" sz="1400" u="none" cap="none" strike="noStrike">
                <a:solidFill>
                  <a:srgbClr val="F2A33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檔案格式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548640" y="2697480"/>
            <a:ext cx="3931920" cy="960120"/>
          </a:xfrm>
          <a:prstGeom prst="roundRect">
            <a:avLst>
              <a:gd fmla="val 11429" name="adj"/>
            </a:avLst>
          </a:prstGeom>
          <a:solidFill>
            <a:srgbClr val="F1F3F7"/>
          </a:solidFill>
          <a:ln cap="flat" cmpd="sng" w="12700">
            <a:solidFill>
              <a:srgbClr val="F1F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 txBox="1"/>
          <p:nvPr/>
        </p:nvSpPr>
        <p:spPr>
          <a:xfrm>
            <a:off x="777240" y="2697480"/>
            <a:ext cx="12344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6500"/>
              </a:buClr>
              <a:buSzPts val="2600"/>
              <a:buFont typeface="Microsoft JhengHei"/>
              <a:buNone/>
            </a:pPr>
            <a:r>
              <a:rPr b="1" i="0" lang="en-US" sz="2600" u="none" cap="none" strike="noStrike">
                <a:solidFill>
                  <a:srgbClr val="B865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12B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 txBox="1"/>
          <p:nvPr/>
        </p:nvSpPr>
        <p:spPr>
          <a:xfrm>
            <a:off x="2057400" y="2697480"/>
            <a:ext cx="22860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參數量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Microsoft JhengHe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120 億參數,越大越聰明、越吃記憶體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4663440" y="2697480"/>
            <a:ext cx="3931920" cy="960120"/>
          </a:xfrm>
          <a:prstGeom prst="roundRect">
            <a:avLst>
              <a:gd fmla="val 11429" name="adj"/>
            </a:avLst>
          </a:prstGeom>
          <a:solidFill>
            <a:srgbClr val="F1F3F7"/>
          </a:solidFill>
          <a:ln cap="flat" cmpd="sng" w="12700">
            <a:solidFill>
              <a:srgbClr val="F1F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 txBox="1"/>
          <p:nvPr/>
        </p:nvSpPr>
        <p:spPr>
          <a:xfrm>
            <a:off x="4892040" y="2697480"/>
            <a:ext cx="12344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6500"/>
              </a:buClr>
              <a:buSzPts val="2600"/>
              <a:buFont typeface="Microsoft JhengHei"/>
              <a:buNone/>
            </a:pPr>
            <a:r>
              <a:rPr b="1" i="0" lang="en-US" sz="2600" u="none" cap="none" strike="noStrike">
                <a:solidFill>
                  <a:srgbClr val="B865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 txBox="1"/>
          <p:nvPr/>
        </p:nvSpPr>
        <p:spPr>
          <a:xfrm>
            <a:off x="6172200" y="2697480"/>
            <a:ext cx="22860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量化精度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Microsoft JhengHe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壓成 4-bit,檔案小、品質略降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548640" y="3794760"/>
            <a:ext cx="3931920" cy="960120"/>
          </a:xfrm>
          <a:prstGeom prst="roundRect">
            <a:avLst>
              <a:gd fmla="val 11429" name="adj"/>
            </a:avLst>
          </a:prstGeom>
          <a:solidFill>
            <a:srgbClr val="F1F3F7"/>
          </a:solidFill>
          <a:ln cap="flat" cmpd="sng" w="12700">
            <a:solidFill>
              <a:srgbClr val="F1F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 txBox="1"/>
          <p:nvPr/>
        </p:nvSpPr>
        <p:spPr>
          <a:xfrm>
            <a:off x="777240" y="3794760"/>
            <a:ext cx="12344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6500"/>
              </a:buClr>
              <a:buSzPts val="2600"/>
              <a:buFont typeface="Microsoft JhengHei"/>
              <a:buNone/>
            </a:pPr>
            <a:r>
              <a:rPr b="1" i="0" lang="en-US" sz="2600" u="none" cap="none" strike="noStrike">
                <a:solidFill>
                  <a:srgbClr val="B865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GGUF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 txBox="1"/>
          <p:nvPr/>
        </p:nvSpPr>
        <p:spPr>
          <a:xfrm>
            <a:off x="2057400" y="3794760"/>
            <a:ext cx="22860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檔案格式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Microsoft JhengHe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LM Studio、Ollama 通用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4663440" y="3794760"/>
            <a:ext cx="3931920" cy="960120"/>
          </a:xfrm>
          <a:prstGeom prst="roundRect">
            <a:avLst>
              <a:gd fmla="val 11429" name="adj"/>
            </a:avLst>
          </a:prstGeom>
          <a:solidFill>
            <a:srgbClr val="F1F3F7"/>
          </a:solidFill>
          <a:ln cap="flat" cmpd="sng" w="12700">
            <a:solidFill>
              <a:srgbClr val="F1F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 txBox="1"/>
          <p:nvPr/>
        </p:nvSpPr>
        <p:spPr>
          <a:xfrm>
            <a:off x="4892040" y="3794760"/>
            <a:ext cx="12344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6500"/>
              </a:buClr>
              <a:buSzPts val="2600"/>
              <a:buFont typeface="Microsoft JhengHei"/>
              <a:buNone/>
            </a:pPr>
            <a:r>
              <a:rPr b="1" i="0" lang="en-US" sz="2600" u="none" cap="none" strike="noStrike">
                <a:solidFill>
                  <a:srgbClr val="B865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MLX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 txBox="1"/>
          <p:nvPr/>
        </p:nvSpPr>
        <p:spPr>
          <a:xfrm>
            <a:off x="6172200" y="3794760"/>
            <a:ext cx="22860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Mac 專用格式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Microsoft JhengHe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Apple Silicon 專用,Mac 用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3600"/>
              <a:buFont typeface="Microsoft JhengHei"/>
              <a:buNone/>
            </a:pPr>
            <a:r>
              <a:rPr b="1" i="0" lang="en-US" sz="36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什麼 RAM 可以放什麼模型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 txBox="1"/>
          <p:nvPr/>
        </p:nvSpPr>
        <p:spPr>
          <a:xfrm>
            <a:off x="548640" y="1325880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1800"/>
              <a:buFont typeface="Microsoft JhengHei"/>
              <a:buNone/>
            </a:pPr>
            <a:r>
              <a:rPr b="1" i="0" lang="en-US" sz="18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8GB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600200" y="1325880"/>
            <a:ext cx="285750" cy="347472"/>
          </a:xfrm>
          <a:prstGeom prst="roundRect">
            <a:avLst>
              <a:gd fmla="val 19200" name="adj"/>
            </a:avLst>
          </a:prstGeom>
          <a:solidFill>
            <a:srgbClr val="3A4358"/>
          </a:solidFill>
          <a:ln cap="flat" cmpd="sng" w="12700">
            <a:solidFill>
              <a:srgbClr val="3A4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 txBox="1"/>
          <p:nvPr/>
        </p:nvSpPr>
        <p:spPr>
          <a:xfrm>
            <a:off x="2023110" y="132588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1800"/>
              <a:buFont typeface="Microsoft JhengHei"/>
              <a:buNone/>
            </a:pPr>
            <a:r>
              <a:rPr b="1" i="0" lang="en-US" sz="18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3B ~ 7B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 txBox="1"/>
          <p:nvPr/>
        </p:nvSpPr>
        <p:spPr>
          <a:xfrm>
            <a:off x="548640" y="1828800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1800"/>
              <a:buFont typeface="Microsoft JhengHei"/>
              <a:buNone/>
            </a:pPr>
            <a:r>
              <a:rPr b="1" i="0" lang="en-US" sz="18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16GB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1600200" y="1828800"/>
            <a:ext cx="571500" cy="347472"/>
          </a:xfrm>
          <a:prstGeom prst="roundRect">
            <a:avLst>
              <a:gd fmla="val 15789" name="adj"/>
            </a:avLst>
          </a:prstGeom>
          <a:solidFill>
            <a:srgbClr val="3A4358"/>
          </a:solidFill>
          <a:ln cap="flat" cmpd="sng" w="12700">
            <a:solidFill>
              <a:srgbClr val="3A4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 txBox="1"/>
          <p:nvPr/>
        </p:nvSpPr>
        <p:spPr>
          <a:xfrm>
            <a:off x="2308860" y="182880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1800"/>
              <a:buFont typeface="Microsoft JhengHei"/>
              <a:buNone/>
            </a:pPr>
            <a:r>
              <a:rPr b="1" i="0" lang="en-US" sz="18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7B ~ 14B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 txBox="1"/>
          <p:nvPr/>
        </p:nvSpPr>
        <p:spPr>
          <a:xfrm>
            <a:off x="548640" y="2331720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1800"/>
              <a:buFont typeface="Microsoft JhengHei"/>
              <a:buNone/>
            </a:pPr>
            <a:r>
              <a:rPr b="1" i="0" lang="en-US" sz="18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24GB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1600200" y="2331720"/>
            <a:ext cx="857250" cy="347472"/>
          </a:xfrm>
          <a:prstGeom prst="roundRect">
            <a:avLst>
              <a:gd fmla="val 15789" name="adj"/>
            </a:avLst>
          </a:prstGeom>
          <a:solidFill>
            <a:srgbClr val="3A4358"/>
          </a:solidFill>
          <a:ln cap="flat" cmpd="sng" w="12700">
            <a:solidFill>
              <a:srgbClr val="3A4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 txBox="1"/>
          <p:nvPr/>
        </p:nvSpPr>
        <p:spPr>
          <a:xfrm>
            <a:off x="2594610" y="233172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1800"/>
              <a:buFont typeface="Microsoft JhengHei"/>
              <a:buNone/>
            </a:pPr>
            <a:r>
              <a:rPr b="1" i="0" lang="en-US" sz="18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14B ~ 30B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 txBox="1"/>
          <p:nvPr/>
        </p:nvSpPr>
        <p:spPr>
          <a:xfrm>
            <a:off x="548640" y="2834640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1800"/>
              <a:buFont typeface="Microsoft JhengHei"/>
              <a:buNone/>
            </a:pPr>
            <a:r>
              <a:rPr b="1" i="0" lang="en-US" sz="18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32GB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1600200" y="2834640"/>
            <a:ext cx="1143000" cy="347472"/>
          </a:xfrm>
          <a:prstGeom prst="roundRect">
            <a:avLst>
              <a:gd fmla="val 15789" name="adj"/>
            </a:avLst>
          </a:prstGeom>
          <a:solidFill>
            <a:srgbClr val="3A4358"/>
          </a:solidFill>
          <a:ln cap="flat" cmpd="sng" w="12700">
            <a:solidFill>
              <a:srgbClr val="3A4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 txBox="1"/>
          <p:nvPr/>
        </p:nvSpPr>
        <p:spPr>
          <a:xfrm>
            <a:off x="2880360" y="283464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1800"/>
              <a:buFont typeface="Microsoft JhengHei"/>
              <a:buNone/>
            </a:pPr>
            <a:r>
              <a:rPr b="1" i="0" lang="en-US" sz="18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約 30B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 txBox="1"/>
          <p:nvPr/>
        </p:nvSpPr>
        <p:spPr>
          <a:xfrm>
            <a:off x="548640" y="3337560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1800"/>
              <a:buFont typeface="Microsoft JhengHei"/>
              <a:buNone/>
            </a:pPr>
            <a:r>
              <a:rPr b="1" i="0" lang="en-US" sz="18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64GB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1600200" y="3337560"/>
            <a:ext cx="2286000" cy="347472"/>
          </a:xfrm>
          <a:prstGeom prst="roundRect">
            <a:avLst>
              <a:gd fmla="val 15789" name="adj"/>
            </a:avLst>
          </a:prstGeom>
          <a:solidFill>
            <a:srgbClr val="3A4358"/>
          </a:solidFill>
          <a:ln cap="flat" cmpd="sng" w="12700">
            <a:solidFill>
              <a:srgbClr val="3A4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 txBox="1"/>
          <p:nvPr/>
        </p:nvSpPr>
        <p:spPr>
          <a:xfrm>
            <a:off x="4023360" y="333756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1800"/>
              <a:buFont typeface="Microsoft JhengHei"/>
              <a:buNone/>
            </a:pPr>
            <a:r>
              <a:rPr b="1" i="0" lang="en-US" sz="18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約 70B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 txBox="1"/>
          <p:nvPr/>
        </p:nvSpPr>
        <p:spPr>
          <a:xfrm>
            <a:off x="548640" y="3840480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1800"/>
              <a:buFont typeface="Microsoft JhengHei"/>
              <a:buNone/>
            </a:pPr>
            <a:r>
              <a:rPr b="1" i="0" lang="en-US" sz="18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128GB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1600200" y="3840480"/>
            <a:ext cx="4572000" cy="347472"/>
          </a:xfrm>
          <a:prstGeom prst="roundRect">
            <a:avLst>
              <a:gd fmla="val 15789" name="adj"/>
            </a:avLst>
          </a:prstGeom>
          <a:solidFill>
            <a:srgbClr val="3A4358"/>
          </a:solidFill>
          <a:ln cap="flat" cmpd="sng" w="12700">
            <a:solidFill>
              <a:srgbClr val="3A4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 txBox="1"/>
          <p:nvPr/>
        </p:nvSpPr>
        <p:spPr>
          <a:xfrm>
            <a:off x="6309360" y="384048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230"/>
              </a:buClr>
              <a:buSzPts val="1800"/>
              <a:buFont typeface="Microsoft JhengHei"/>
              <a:buNone/>
            </a:pPr>
            <a:r>
              <a:rPr b="1" i="0" lang="en-US" sz="1800" u="none" cap="none" strike="noStrike">
                <a:solidFill>
                  <a:srgbClr val="1C2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100B 以上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 txBox="1"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Microsoft JhengHe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以 Q4 量化粗估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2230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"/>
          <p:cNvSpPr txBox="1"/>
          <p:nvPr/>
        </p:nvSpPr>
        <p:spPr>
          <a:xfrm>
            <a:off x="548640" y="64008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Microsoft JhengHe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下次再聊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 txBox="1"/>
          <p:nvPr/>
        </p:nvSpPr>
        <p:spPr>
          <a:xfrm>
            <a:off x="548640" y="15087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33A"/>
              </a:buClr>
              <a:buSzPts val="2000"/>
              <a:buFont typeface="Microsoft JhengHei"/>
              <a:buNone/>
            </a:pPr>
            <a:r>
              <a:rPr b="0" i="0" lang="en-US" sz="2000" u="none" cap="none" strike="noStrike">
                <a:solidFill>
                  <a:srgbClr val="F2A33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有興趣的話,下次簡報繼續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548640" y="2468880"/>
            <a:ext cx="2560320" cy="1554480"/>
          </a:xfrm>
          <a:prstGeom prst="roundRect">
            <a:avLst>
              <a:gd fmla="val 7059" name="adj"/>
            </a:avLst>
          </a:prstGeom>
          <a:solidFill>
            <a:srgbClr val="3A4358"/>
          </a:solidFill>
          <a:ln cap="flat" cmpd="sng" w="12700">
            <a:solidFill>
              <a:srgbClr val="3A4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822960" y="2926080"/>
            <a:ext cx="640080" cy="640080"/>
          </a:xfrm>
          <a:prstGeom prst="ellipse">
            <a:avLst/>
          </a:prstGeom>
          <a:solidFill>
            <a:srgbClr val="1C2230"/>
          </a:solidFill>
          <a:ln cap="flat" cmpd="sng" w="12700">
            <a:solidFill>
              <a:srgbClr val="1C2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9" name="Google Shape;25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9381" y="309250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0"/>
          <p:cNvSpPr txBox="1"/>
          <p:nvPr/>
        </p:nvSpPr>
        <p:spPr>
          <a:xfrm>
            <a:off x="1645920" y="2880360"/>
            <a:ext cx="1280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icrosoft JhengHe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MoE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3291840" y="2468880"/>
            <a:ext cx="2560320" cy="1554480"/>
          </a:xfrm>
          <a:prstGeom prst="roundRect">
            <a:avLst>
              <a:gd fmla="val 7059" name="adj"/>
            </a:avLst>
          </a:prstGeom>
          <a:solidFill>
            <a:srgbClr val="3A4358"/>
          </a:solidFill>
          <a:ln cap="flat" cmpd="sng" w="12700">
            <a:solidFill>
              <a:srgbClr val="3A4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3566160" y="2926080"/>
            <a:ext cx="640080" cy="640080"/>
          </a:xfrm>
          <a:prstGeom prst="ellipse">
            <a:avLst/>
          </a:prstGeom>
          <a:solidFill>
            <a:srgbClr val="1C2230"/>
          </a:solidFill>
          <a:ln cap="flat" cmpd="sng" w="12700">
            <a:solidFill>
              <a:srgbClr val="1C2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3" name="Google Shape;26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32581" y="309250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0"/>
          <p:cNvSpPr txBox="1"/>
          <p:nvPr/>
        </p:nvSpPr>
        <p:spPr>
          <a:xfrm>
            <a:off x="4389120" y="2880360"/>
            <a:ext cx="1280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icrosoft JhengHe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MTP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6035040" y="2468880"/>
            <a:ext cx="2560320" cy="1554480"/>
          </a:xfrm>
          <a:prstGeom prst="roundRect">
            <a:avLst>
              <a:gd fmla="val 7059" name="adj"/>
            </a:avLst>
          </a:prstGeom>
          <a:solidFill>
            <a:srgbClr val="3A4358"/>
          </a:solidFill>
          <a:ln cap="flat" cmpd="sng" w="12700">
            <a:solidFill>
              <a:srgbClr val="3A4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6309360" y="2926080"/>
            <a:ext cx="640080" cy="640080"/>
          </a:xfrm>
          <a:prstGeom prst="ellipse">
            <a:avLst/>
          </a:prstGeom>
          <a:solidFill>
            <a:srgbClr val="1C2230"/>
          </a:solidFill>
          <a:ln cap="flat" cmpd="sng" w="12700">
            <a:solidFill>
              <a:srgbClr val="1C2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7" name="Google Shape;26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75781" y="309250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0"/>
          <p:cNvSpPr txBox="1"/>
          <p:nvPr/>
        </p:nvSpPr>
        <p:spPr>
          <a:xfrm>
            <a:off x="7132320" y="2880360"/>
            <a:ext cx="1280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icrosoft JhengHe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HBM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2026-10-01T07:00:31Z</dcterms:created>
  <dc:creator>PptxGenJS</dc:creator>
</cp:coreProperties>
</file>